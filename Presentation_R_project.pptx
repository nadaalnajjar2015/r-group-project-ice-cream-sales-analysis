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da AlNajar" userId="4d0b0a8032905d04" providerId="LiveId" clId="{C725E1BB-8C74-4742-A48B-54E153FBC927}"/>
    <pc:docChg chg="custSel modSld">
      <pc:chgData name="Nada AlNajar" userId="4d0b0a8032905d04" providerId="LiveId" clId="{C725E1BB-8C74-4742-A48B-54E153FBC927}" dt="2025-01-03T22:05:02.845" v="25" actId="122"/>
      <pc:docMkLst>
        <pc:docMk/>
      </pc:docMkLst>
      <pc:sldChg chg="modSp mod">
        <pc:chgData name="Nada AlNajar" userId="4d0b0a8032905d04" providerId="LiveId" clId="{C725E1BB-8C74-4742-A48B-54E153FBC927}" dt="2025-01-03T21:59:22.555" v="16" actId="20577"/>
        <pc:sldMkLst>
          <pc:docMk/>
          <pc:sldMk cId="1621312772" sldId="256"/>
        </pc:sldMkLst>
        <pc:spChg chg="mod">
          <ac:chgData name="Nada AlNajar" userId="4d0b0a8032905d04" providerId="LiveId" clId="{C725E1BB-8C74-4742-A48B-54E153FBC927}" dt="2025-01-03T21:59:22.555" v="16" actId="20577"/>
          <ac:spMkLst>
            <pc:docMk/>
            <pc:sldMk cId="1621312772" sldId="256"/>
            <ac:spMk id="5" creationId="{C30BCD52-48C8-88F4-6B30-37B2BC4189A5}"/>
          </ac:spMkLst>
        </pc:spChg>
      </pc:sldChg>
      <pc:sldChg chg="modSp mod">
        <pc:chgData name="Nada AlNajar" userId="4d0b0a8032905d04" providerId="LiveId" clId="{C725E1BB-8C74-4742-A48B-54E153FBC927}" dt="2025-01-03T21:58:24.163" v="11" actId="20577"/>
        <pc:sldMkLst>
          <pc:docMk/>
          <pc:sldMk cId="2303966260" sldId="257"/>
        </pc:sldMkLst>
        <pc:spChg chg="mod">
          <ac:chgData name="Nada AlNajar" userId="4d0b0a8032905d04" providerId="LiveId" clId="{C725E1BB-8C74-4742-A48B-54E153FBC927}" dt="2025-01-03T21:58:24.163" v="11" actId="20577"/>
          <ac:spMkLst>
            <pc:docMk/>
            <pc:sldMk cId="2303966260" sldId="257"/>
            <ac:spMk id="5" creationId="{085E1FB1-98DB-8935-9331-BDD5D4F6DE6B}"/>
          </ac:spMkLst>
        </pc:spChg>
      </pc:sldChg>
      <pc:sldChg chg="modSp mod">
        <pc:chgData name="Nada AlNajar" userId="4d0b0a8032905d04" providerId="LiveId" clId="{C725E1BB-8C74-4742-A48B-54E153FBC927}" dt="2025-01-03T21:59:10.137" v="12" actId="20577"/>
        <pc:sldMkLst>
          <pc:docMk/>
          <pc:sldMk cId="2045613638" sldId="258"/>
        </pc:sldMkLst>
        <pc:spChg chg="mod">
          <ac:chgData name="Nada AlNajar" userId="4d0b0a8032905d04" providerId="LiveId" clId="{C725E1BB-8C74-4742-A48B-54E153FBC927}" dt="2025-01-03T21:59:10.137" v="12" actId="20577"/>
          <ac:spMkLst>
            <pc:docMk/>
            <pc:sldMk cId="2045613638" sldId="258"/>
            <ac:spMk id="5" creationId="{BF329B89-2E2C-B240-5909-2FA819398F57}"/>
          </ac:spMkLst>
        </pc:spChg>
      </pc:sldChg>
      <pc:sldChg chg="modSp mod">
        <pc:chgData name="Nada AlNajar" userId="4d0b0a8032905d04" providerId="LiveId" clId="{C725E1BB-8C74-4742-A48B-54E153FBC927}" dt="2025-01-03T22:05:02.845" v="25" actId="122"/>
        <pc:sldMkLst>
          <pc:docMk/>
          <pc:sldMk cId="2543245589" sldId="265"/>
        </pc:sldMkLst>
        <pc:spChg chg="mod">
          <ac:chgData name="Nada AlNajar" userId="4d0b0a8032905d04" providerId="LiveId" clId="{C725E1BB-8C74-4742-A48B-54E153FBC927}" dt="2025-01-03T22:05:02.845" v="25" actId="122"/>
          <ac:spMkLst>
            <pc:docMk/>
            <pc:sldMk cId="2543245589" sldId="265"/>
            <ac:spMk id="4" creationId="{0298E5EF-1018-0BB9-6D57-438FFB315E2F}"/>
          </ac:spMkLst>
        </pc:spChg>
        <pc:spChg chg="mod">
          <ac:chgData name="Nada AlNajar" userId="4d0b0a8032905d04" providerId="LiveId" clId="{C725E1BB-8C74-4742-A48B-54E153FBC927}" dt="2025-01-03T22:04:52.845" v="22" actId="27636"/>
          <ac:spMkLst>
            <pc:docMk/>
            <pc:sldMk cId="2543245589" sldId="265"/>
            <ac:spMk id="5" creationId="{8D0CEA28-A144-ABF2-BB11-1706FE0B15C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4A00-9F3A-4D37-9502-6445F2454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2B7BD-282A-9DC3-FB72-6896372B2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62BF7-C38B-B2E4-15E5-C47DD3BD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8CF04-4580-406C-8EFA-53C457689156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F5707-F63B-0350-CF8F-29FB6B0C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5D20-5749-5AB4-A716-4915985D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DD33-27B2-4DC0-A5DE-B0DF69FD0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48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C0EAE-3D9D-5156-762C-A16EAA6B4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983DB-21C1-5C9D-9F2A-2F7FFA7FA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1CB8B-1557-F243-7956-026FE7CDB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8CF04-4580-406C-8EFA-53C457689156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91714-D940-1C3A-DAA0-F7CFD3E0D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1F1B5-DFA0-D6CB-BD9A-321B5491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DD33-27B2-4DC0-A5DE-B0DF69FD0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3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7F64-4613-1E8E-8E98-46FB80DA0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6BA86-1CB3-448C-D180-B00F6DF1A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CB4EF-0B3A-EEAC-965C-3AA162F44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8CF04-4580-406C-8EFA-53C457689156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EE34C-7575-A821-13F8-2EBA13FBA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3B58D-F0E4-5B89-FA53-627E4E4D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DD33-27B2-4DC0-A5DE-B0DF69FD0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516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935E9-862A-307B-B599-EC010C377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1B409-A8B8-53EC-8D64-540E1FB890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AC317-1253-AFA5-541A-C099A051F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B1C28-2E7B-925B-8DE0-F7A9EC629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8CF04-4580-406C-8EFA-53C457689156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9F855-7E23-FCB8-408F-7CD6F2F08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C17FE-C49E-85DE-E461-DB5D193D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DD33-27B2-4DC0-A5DE-B0DF69FD0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29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2E0F8-D505-A702-6FAA-67235A8D2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96C8E-72BD-88F7-BA25-087F2F1F3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26F2D-79F3-4259-2F7F-E43AF461F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D4EFAB-DB71-170A-944D-AAA06DF98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64E3C8-613D-7792-4D7C-3180180E1D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597C7F-F642-48BD-5141-F83585B5C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8CF04-4580-406C-8EFA-53C457689156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AD97DF-831C-9B8B-A73E-4D2DBB76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FED5D-F275-5077-E0B8-273B04820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DD33-27B2-4DC0-A5DE-B0DF69FD0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067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C66B-9C83-406C-D7B0-B864C2D1A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4E14B9-39A0-47B0-D409-4661C54B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8CF04-4580-406C-8EFA-53C457689156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BD2D14-CE4A-5A67-5DEB-2166E52D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6D3960-31B2-9A44-7526-4897BDF0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DD33-27B2-4DC0-A5DE-B0DF69FD0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41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49B9A3-AF2E-1A6F-540D-E014E43FD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8CF04-4580-406C-8EFA-53C457689156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B00CA-5A30-70BD-C4C4-F10E2686C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824FF-E75F-9069-E1B5-C7A5493CD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DD33-27B2-4DC0-A5DE-B0DF69FD0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59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5FFF-1F74-6C9D-9BE0-4F4A83409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F0558-35D2-7481-F006-2BE3D7DAA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2B9B97-54F1-1B0F-360E-23D067C80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A9005-FC32-2169-27CD-CD895B4D6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8CF04-4580-406C-8EFA-53C457689156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9BE62-2EBC-BA6F-8B70-EDE22D55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BF3D3-7FC2-B024-005C-8A3D7C2A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DD33-27B2-4DC0-A5DE-B0DF69FD0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673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3FB03-5BF6-4A3F-A022-9D47D66E4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BC070E-B8A9-D344-EC22-C35A918692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4264F-51EE-D173-F383-C7FC6305C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123C5-2CC1-B52C-16EB-34B2E863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8CF04-4580-406C-8EFA-53C457689156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8BD08-5947-E402-8E5E-DB6407AC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F35DB-E5C3-742A-4F01-66DA6CC27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DD33-27B2-4DC0-A5DE-B0DF69FD0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65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4E03B-6AFB-6E8A-F401-C192A6C2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34C41-8202-B022-F767-C20F90091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75AB-C8B4-EFE7-F6BD-D0727E81E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8CF04-4580-406C-8EFA-53C457689156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A2D8F-7D69-F346-287E-0F7B5A7DC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AB06F-4FE2-B007-04D9-9915C9D9E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DD33-27B2-4DC0-A5DE-B0DF69FD0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9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6E1B61-90E5-4680-DFA9-2102CA16E8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2F513-8139-5708-D321-845F7D126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021AC-3E88-2127-629C-93EC8737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8CF04-4580-406C-8EFA-53C457689156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2D9FC-7C84-A4A6-D1F8-60067711F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2060D-48A9-4543-1B37-767AAC11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DD33-27B2-4DC0-A5DE-B0DF69FD0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17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B3E72B-9B93-23D6-BBE7-9B202AEE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065F-714C-DA3A-E8A8-38D5C3055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B34C8-8BD9-5B68-F848-17FADD844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8CF04-4580-406C-8EFA-53C457689156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2F4F9-B8A3-5ABB-A5FC-85C112785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7F517-62C1-372D-D6B4-FAF7BAB5B2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00DD33-27B2-4DC0-A5DE-B0DF69FD0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64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1F26D0-8FED-6194-196C-FABB38888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063" y="369757"/>
            <a:ext cx="9051720" cy="2241892"/>
          </a:xfrm>
          <a:ln w="76200">
            <a:solidFill>
              <a:schemeClr val="accent4">
                <a:lumMod val="50000"/>
              </a:schemeClr>
            </a:solidFill>
          </a:ln>
        </p:spPr>
        <p:txBody>
          <a:bodyPr>
            <a:normAutofit fontScale="90000"/>
          </a:bodyPr>
          <a:lstStyle/>
          <a:p>
            <a:pPr algn="l"/>
            <a:r>
              <a:rPr lang="en-GB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Ice Cream Sales Analysis  </a:t>
            </a:r>
            <a:br>
              <a:rPr lang="en-GB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Using R</a:t>
            </a:r>
            <a:endParaRPr lang="en-US" sz="7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30BCD52-48C8-88F4-6B30-37B2BC418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034" y="3629762"/>
            <a:ext cx="10103796" cy="2387600"/>
          </a:xfrm>
        </p:spPr>
        <p:txBody>
          <a:bodyPr>
            <a:normAutofit fontScale="62500" lnSpcReduction="20000"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Data Science Project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Members: Nada </a:t>
            </a:r>
            <a:r>
              <a:rPr lang="en-GB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Alnajjar</a:t>
            </a:r>
            <a:r>
              <a:rPr lang="en-GB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Khadijah </a:t>
            </a:r>
            <a:r>
              <a:rPr lang="en-GB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Hzayen</a:t>
            </a:r>
            <a:r>
              <a:rPr lang="en-GB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Rawan </a:t>
            </a:r>
            <a:r>
              <a:rPr lang="en-GB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Asqoul</a:t>
            </a:r>
            <a:endParaRPr lang="en-GB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Name: Data Science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 Name: Al-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Zaytoonah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University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Date: January 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71011C-5BC6-126B-7BE5-FBF117D57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182793"/>
            <a:ext cx="3068320" cy="306832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DE2C67-C956-C21F-11EC-181EE903433A}"/>
              </a:ext>
            </a:extLst>
          </p:cNvPr>
          <p:cNvCxnSpPr/>
          <p:nvPr/>
        </p:nvCxnSpPr>
        <p:spPr>
          <a:xfrm>
            <a:off x="478172" y="3120705"/>
            <a:ext cx="9236279" cy="0"/>
          </a:xfrm>
          <a:prstGeom prst="line">
            <a:avLst/>
          </a:prstGeom>
          <a:ln w="762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975345C-89A8-4C39-7D32-3630B49C5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783" y="1298895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1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D184F8-469D-20B4-5253-5EACB91CE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EEC006-134F-8580-B47A-74B112256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7792" y="16774"/>
            <a:ext cx="6856602" cy="1135879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85E1FB1-98DB-8935-9331-BDD5D4F6D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229" y="1613845"/>
            <a:ext cx="11014746" cy="210247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monthly ice cream sales data using R to explore trends, patterns, and insights that can help improve decision-making in business.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goals: To perform data preparation, visualization, and statistical analysis to uncover key business insights.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682A3F75-C4F2-0DD1-3ED6-8AA39C59AA5F}"/>
              </a:ext>
            </a:extLst>
          </p:cNvPr>
          <p:cNvSpPr/>
          <p:nvPr/>
        </p:nvSpPr>
        <p:spPr>
          <a:xfrm rot="18958839">
            <a:off x="-822297" y="-202393"/>
            <a:ext cx="2498318" cy="1230443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024F3A-7AD5-13EA-D290-3BBD4E539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635" y="3984774"/>
            <a:ext cx="2599187" cy="2599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23C73E-0ABD-62F3-7DB4-9F3AEAF28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223" y="3664121"/>
            <a:ext cx="2856451" cy="285645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B0F824A-4860-24C5-C96B-49A18B80D254}"/>
              </a:ext>
            </a:extLst>
          </p:cNvPr>
          <p:cNvCxnSpPr/>
          <p:nvPr/>
        </p:nvCxnSpPr>
        <p:spPr>
          <a:xfrm>
            <a:off x="2072081" y="1300294"/>
            <a:ext cx="88923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966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BC7D7-3728-FDE4-C310-C733EAD23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48D16C-CE60-EE9E-D160-3AA0602AB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999"/>
            <a:ext cx="9144000" cy="1093934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F329B89-2E2C-B240-5909-2FA819398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821" y="1610687"/>
            <a:ext cx="6596544" cy="335559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 of the dataset: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Ice Cream Sales 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records 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Variables: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DATE, Monthly Units Sold.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of the data: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Kaggle.com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1EE269-A669-7E84-0652-00F265844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242507"/>
              </p:ext>
            </p:extLst>
          </p:nvPr>
        </p:nvGraphicFramePr>
        <p:xfrm>
          <a:off x="8393448" y="1504992"/>
          <a:ext cx="3179428" cy="512063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194">
                  <a:extLst>
                    <a:ext uri="{9D8B030D-6E8A-4147-A177-3AD203B41FA5}">
                      <a16:colId xmlns:a16="http://schemas.microsoft.com/office/drawing/2014/main" val="746945505"/>
                    </a:ext>
                  </a:extLst>
                </a:gridCol>
                <a:gridCol w="1960234">
                  <a:extLst>
                    <a:ext uri="{9D8B030D-6E8A-4147-A177-3AD203B41FA5}">
                      <a16:colId xmlns:a16="http://schemas.microsoft.com/office/drawing/2014/main" val="4285404687"/>
                    </a:ext>
                  </a:extLst>
                </a:gridCol>
              </a:tblGrid>
              <a:tr h="393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DATE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monthly_units_sales</a:t>
                      </a:r>
                      <a:endParaRPr lang="en-US" sz="1600" b="1" i="0" u="none" strike="noStrike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63225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1/1/1972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59.9622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990640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2/1/1972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67.0605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66442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3/1/1972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74.235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950003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4/1/1972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78.112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95658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5/1/1972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84.7636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566152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6/1/1972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100.596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897431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7/1/1972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100.1263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250428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8/1/1972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96.3607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990498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9/1/1972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85.8007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933847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10/1/1972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70.3934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966954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11/1/1972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60.8072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267155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12/1/1972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58.6598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24540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2F9A27C-36D7-D91F-CEBE-548F8854A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332" y="3979877"/>
            <a:ext cx="3135822" cy="313582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DA6BE5-B311-8FF5-A388-6DF6A9EE31ED}"/>
              </a:ext>
            </a:extLst>
          </p:cNvPr>
          <p:cNvCxnSpPr/>
          <p:nvPr/>
        </p:nvCxnSpPr>
        <p:spPr>
          <a:xfrm>
            <a:off x="1442906" y="1350628"/>
            <a:ext cx="96389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61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BA5A6-DD6F-1963-B3C5-090416A6B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363658-5C25-6564-9D0A-F54C7E17D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5061" y="302000"/>
            <a:ext cx="8391787" cy="1219769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and Methodology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821123-3145-A5C7-9706-358C7B71E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900" y="2139193"/>
            <a:ext cx="7004808" cy="421127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/>
              <a:t>Tools:</a:t>
            </a:r>
            <a:r>
              <a:rPr lang="en-GB" dirty="0"/>
              <a:t> R programming language, RStudio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/>
              <a:t>Steps:</a:t>
            </a:r>
          </a:p>
          <a:p>
            <a:pPr algn="l"/>
            <a:r>
              <a:rPr lang="en-GB" b="1" dirty="0"/>
              <a:t>1.</a:t>
            </a:r>
            <a:r>
              <a:rPr lang="en-GB" dirty="0"/>
              <a:t> Reading the dataset from a CSV file</a:t>
            </a:r>
          </a:p>
          <a:p>
            <a:pPr algn="l"/>
            <a:r>
              <a:rPr lang="en-GB" b="1" dirty="0"/>
              <a:t>2.</a:t>
            </a:r>
            <a:r>
              <a:rPr lang="en-GB" dirty="0"/>
              <a:t> Data preparation (cleaning and transformation)</a:t>
            </a:r>
          </a:p>
          <a:p>
            <a:pPr algn="l"/>
            <a:r>
              <a:rPr lang="en-GB" b="1" dirty="0"/>
              <a:t>3.</a:t>
            </a:r>
            <a:r>
              <a:rPr lang="en-GB" dirty="0"/>
              <a:t> Statistical analysis (e.g., mean, sum)</a:t>
            </a:r>
          </a:p>
          <a:p>
            <a:pPr algn="l"/>
            <a:r>
              <a:rPr lang="en-GB" b="1" dirty="0"/>
              <a:t>4.</a:t>
            </a:r>
            <a:r>
              <a:rPr lang="en-GB" dirty="0"/>
              <a:t> Data visualization (charts and plots)</a:t>
            </a:r>
          </a:p>
          <a:p>
            <a:pPr algn="l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A0328F-8F34-86D0-2202-63EAB76D6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568" y="4559806"/>
            <a:ext cx="4872172" cy="17089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2A589E-E46C-F7AA-0135-E17582BA3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996" y="1990699"/>
            <a:ext cx="3847457" cy="204396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684B4AA-183F-C8A2-8DCB-F00175929302}"/>
              </a:ext>
            </a:extLst>
          </p:cNvPr>
          <p:cNvCxnSpPr/>
          <p:nvPr/>
        </p:nvCxnSpPr>
        <p:spPr>
          <a:xfrm>
            <a:off x="1803633" y="1661021"/>
            <a:ext cx="88923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64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F0E3C-E005-E09E-1D26-A81C92090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029A4F-342A-4294-8256-AA8A0DEF2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944"/>
            <a:ext cx="9144000" cy="976488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D3F95F5-95B3-4095-1B40-8AB2B94B1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544" y="1932628"/>
            <a:ext cx="9692081" cy="2421257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Renamed columns for clarity (e.g., IPN31152N → Monthly Units Sold).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date column to proper date format.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Rounded monthly sales values to integers.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for missing values and outliers.</a:t>
            </a:r>
          </a:p>
          <a:p>
            <a:pPr algn="l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706C99-B39D-F5FA-0DCD-D385B2D35E98}"/>
              </a:ext>
            </a:extLst>
          </p:cNvPr>
          <p:cNvCxnSpPr/>
          <p:nvPr/>
        </p:nvCxnSpPr>
        <p:spPr>
          <a:xfrm>
            <a:off x="1803633" y="1325461"/>
            <a:ext cx="88923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5E06BEF-B2BC-FC8A-A10E-A6AAC21DE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631" y="3412441"/>
            <a:ext cx="4077050" cy="3097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17970E-366F-9569-A2F1-E81DE4287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69" y="4148258"/>
            <a:ext cx="2567031" cy="25670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88674B-1B34-11C0-5A68-40FDABC3F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457443" y="-21494"/>
            <a:ext cx="1754963" cy="171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6F4F28-9786-C2AA-45A5-7EF17FECD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AEADBA-3B4A-B195-76FB-AC73A5D5F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0489"/>
            <a:ext cx="9144000" cy="1909763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 and Vector Creation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D012114-5A1C-B272-4F28-909F39F12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932" y="2503080"/>
            <a:ext cx="9144000" cy="274003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total_sales_year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store the total sales for the first year.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the total as &lt;value&gt;.</a:t>
            </a:r>
          </a:p>
          <a:p>
            <a:pPr algn="l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Vector: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Months vector to store month names.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it as row names for the dataset.</a:t>
            </a:r>
          </a:p>
          <a:p>
            <a:pPr algn="l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0C73B0-E380-45EF-583C-7760420AFFB9}"/>
              </a:ext>
            </a:extLst>
          </p:cNvPr>
          <p:cNvCxnSpPr/>
          <p:nvPr/>
        </p:nvCxnSpPr>
        <p:spPr>
          <a:xfrm>
            <a:off x="1803633" y="2088860"/>
            <a:ext cx="88923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9A5FF3F-A791-1E13-5858-522A31AE9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592" y="3311044"/>
            <a:ext cx="6268325" cy="1124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1711A6-6F17-82C1-2B71-D788E31C5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-25167" y="5156728"/>
            <a:ext cx="1713124" cy="1755800"/>
          </a:xfrm>
          <a:prstGeom prst="rect">
            <a:avLst/>
          </a:prstGeom>
        </p:spPr>
      </p:pic>
      <p:pic>
        <p:nvPicPr>
          <p:cNvPr id="3076" name="Picture 4" descr="Independent variable Flaticons Flat icon">
            <a:extLst>
              <a:ext uri="{FF2B5EF4-FFF2-40B4-BE49-F238E27FC236}">
                <a16:creationId xmlns:a16="http://schemas.microsoft.com/office/drawing/2014/main" id="{B66244CD-23EC-D775-BB6E-78BB0896E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1422" y="4401839"/>
            <a:ext cx="2670670" cy="2670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083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89B4DC-A1D2-DCDE-43C9-DB4603DE4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4547F7-1BCC-3B1A-F667-1BF454FAC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385896"/>
            <a:ext cx="9144000" cy="1535651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 and Data Frame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87BC59A-BAD4-1D66-1F2E-E642A00E7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352" y="1550916"/>
            <a:ext cx="9144000" cy="3238148"/>
          </a:xfrm>
        </p:spPr>
        <p:txBody>
          <a:bodyPr>
            <a:norm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List Creation:</a:t>
            </a:r>
          </a:p>
          <a:p>
            <a:pPr marL="285750" marR="0" indent="-285750" algn="l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Combined Months and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monthly_units_sold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into a list.</a:t>
            </a:r>
          </a:p>
          <a:p>
            <a:pPr marL="285750" marR="0" indent="-285750" algn="l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Displayed total sales using the list.</a:t>
            </a:r>
          </a:p>
          <a:p>
            <a:pPr marL="0" marR="0" algn="l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 Frame Creation:</a:t>
            </a:r>
          </a:p>
          <a:p>
            <a:pPr marL="285750" marR="0" indent="-285750" algn="l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sales_data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frame from the list.</a:t>
            </a:r>
          </a:p>
          <a:p>
            <a:pPr marL="285750" marR="0" indent="-285750" algn="l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month names and corresponding sales.</a:t>
            </a:r>
          </a:p>
          <a:p>
            <a:pPr algn="l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BF9A393-7607-3A33-0574-7A589EC8F7EC}"/>
              </a:ext>
            </a:extLst>
          </p:cNvPr>
          <p:cNvCxnSpPr/>
          <p:nvPr/>
        </p:nvCxnSpPr>
        <p:spPr>
          <a:xfrm>
            <a:off x="1803633" y="1291905"/>
            <a:ext cx="88923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5E43C9B-FAE1-AC59-797C-BC91AC2B2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099" y="2717387"/>
            <a:ext cx="6298157" cy="11309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3130E6-A524-94CC-B961-04688C785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953" y="4184553"/>
            <a:ext cx="2162467" cy="2245061"/>
          </a:xfrm>
          <a:prstGeom prst="rect">
            <a:avLst/>
          </a:prstGeom>
        </p:spPr>
      </p:pic>
      <p:pic>
        <p:nvPicPr>
          <p:cNvPr id="2050" name="Picture 2" descr="R Basics - R - Library Research Guides at Wellesley College">
            <a:extLst>
              <a:ext uri="{FF2B5EF4-FFF2-40B4-BE49-F238E27FC236}">
                <a16:creationId xmlns:a16="http://schemas.microsoft.com/office/drawing/2014/main" id="{10FC5242-9E2D-8B35-4AAC-EC5E6AFAF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695" y="4921119"/>
            <a:ext cx="7620352" cy="1799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436564-821E-FFD8-C02D-C7C98461D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457443" y="-21494"/>
            <a:ext cx="1754963" cy="171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47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6C63C3-B246-BE71-038F-00FAF51F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22B284-F168-C468-F1F1-18D2DF965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108"/>
            <a:ext cx="9144000" cy="984877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Structures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C373974-B6EF-7381-7219-943BFE360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897" y="1928555"/>
            <a:ext cx="6132353" cy="3766655"/>
          </a:xfrm>
        </p:spPr>
        <p:txBody>
          <a:bodyPr>
            <a:norm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Loop:</a:t>
            </a:r>
          </a:p>
          <a:p>
            <a:pPr marL="0" marR="0" algn="l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Printed total sales for each month.</a:t>
            </a:r>
          </a:p>
          <a:p>
            <a:pPr marL="0" marR="0" algn="l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If-Else Statement:</a:t>
            </a:r>
          </a:p>
          <a:p>
            <a:pPr marL="0" marR="0" algn="l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if monthly sales were </a:t>
            </a:r>
          </a:p>
          <a:p>
            <a:pPr marL="0" marR="0" algn="l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above or below the average.</a:t>
            </a:r>
          </a:p>
          <a:p>
            <a:pPr marL="0" marR="0" algn="l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Findings:</a:t>
            </a:r>
          </a:p>
          <a:p>
            <a:pPr algn="l"/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Highlighted months with above-average sales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E896371-2E73-2A29-5B73-2D4CEF0322C6}"/>
              </a:ext>
            </a:extLst>
          </p:cNvPr>
          <p:cNvCxnSpPr/>
          <p:nvPr/>
        </p:nvCxnSpPr>
        <p:spPr>
          <a:xfrm>
            <a:off x="1803633" y="1073791"/>
            <a:ext cx="88923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9EB6189-D6FC-7E37-1280-9CB2D16C6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034" y="4834552"/>
            <a:ext cx="2109527" cy="19563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E24BC0-7A5C-A100-72B7-5D01A2557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294" y="4834551"/>
            <a:ext cx="4389473" cy="19563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FE2E66-CB1C-76E6-6C93-EDB300468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007" y="2023448"/>
            <a:ext cx="1956341" cy="19563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EECF67-DB7F-4BA0-9C31-FD37D9AE6D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2482" y="1318471"/>
            <a:ext cx="4325107" cy="335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383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662CB-E8FB-04DF-2E56-F97C05240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27B1B5-BD0D-9A35-9620-2BE7C4F8A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553"/>
            <a:ext cx="9144000" cy="1010044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Visualization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DCA55F1-85D2-9AA7-ECAF-5B97EA8C1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394" y="1585519"/>
            <a:ext cx="10206606" cy="3672281"/>
          </a:xfrm>
        </p:spPr>
        <p:txBody>
          <a:bodyPr>
            <a:norm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 Plot:</a:t>
            </a:r>
          </a:p>
          <a:p>
            <a:pPr marL="285750" marR="0" indent="-285750" algn="l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Displayed total sales for each month</a:t>
            </a:r>
          </a:p>
          <a:p>
            <a:pPr marL="285750" marR="0" indent="-285750" algn="l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X-axis: Month names.</a:t>
            </a:r>
          </a:p>
          <a:p>
            <a:pPr marL="285750" marR="0" indent="-285750" algn="l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Y-axis: Total sales (units).</a:t>
            </a:r>
          </a:p>
          <a:p>
            <a:pPr marL="0" marR="0" algn="l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Insight:</a:t>
            </a:r>
          </a:p>
          <a:p>
            <a:pPr marL="285750" marR="0" indent="-285750" algn="l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peak sales months from the chart.</a:t>
            </a:r>
          </a:p>
          <a:p>
            <a:pPr algn="l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2454310-81B0-E45F-1E0B-2B857488333E}"/>
              </a:ext>
            </a:extLst>
          </p:cNvPr>
          <p:cNvCxnSpPr/>
          <p:nvPr/>
        </p:nvCxnSpPr>
        <p:spPr>
          <a:xfrm>
            <a:off x="1803633" y="1191237"/>
            <a:ext cx="88923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A546CD6-2C50-E0DC-E807-1D75B800C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25167" y="5156728"/>
            <a:ext cx="1713124" cy="175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07EDF6-A167-63B2-06E2-0EDAC251CF7D}"/>
              </a:ext>
            </a:extLst>
          </p:cNvPr>
          <p:cNvSpPr txBox="1"/>
          <p:nvPr/>
        </p:nvSpPr>
        <p:spPr>
          <a:xfrm>
            <a:off x="7547294" y="1828800"/>
            <a:ext cx="24579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(</a:t>
            </a:r>
            <a:r>
              <a:rPr lang="en-US" sz="3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barplot</a:t>
            </a: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())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5FAD02-7E5D-9975-77E0-C5CCAF081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287" y="2564939"/>
            <a:ext cx="5896319" cy="411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18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57F13D-9558-FC49-E8A7-51512C45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98E5EF-1018-0BB9-6D57-438FFB315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609"/>
            <a:ext cx="9144000" cy="1119101"/>
          </a:xfrm>
        </p:spPr>
        <p:txBody>
          <a:bodyPr/>
          <a:lstStyle/>
          <a:p>
            <a:r>
              <a:rPr lang="en-GB" sz="6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 sz="6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D0CEA28-A144-ABF2-BB11-1706FE0B1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119" y="2340529"/>
            <a:ext cx="6644081" cy="2866938"/>
          </a:xfrm>
        </p:spPr>
        <p:txBody>
          <a:bodyPr>
            <a:normAutofit/>
          </a:bodyPr>
          <a:lstStyle/>
          <a:p>
            <a:pPr algn="l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revealed monthly trends and the relationship between average and peak sales.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 and visualization highlighted actionable patterns.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8B67C5B-8790-167E-7B42-264EC1D61689}"/>
              </a:ext>
            </a:extLst>
          </p:cNvPr>
          <p:cNvCxnSpPr/>
          <p:nvPr/>
        </p:nvCxnSpPr>
        <p:spPr>
          <a:xfrm>
            <a:off x="1820411" y="1400962"/>
            <a:ext cx="88923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907E993-2B1E-C762-C449-07514C2CA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131" y="1577131"/>
            <a:ext cx="5280869" cy="52808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2BF3941-DAA4-66B1-7648-F2E47226FC52}"/>
              </a:ext>
            </a:extLst>
          </p:cNvPr>
          <p:cNvSpPr/>
          <p:nvPr/>
        </p:nvSpPr>
        <p:spPr>
          <a:xfrm>
            <a:off x="0" y="6286286"/>
            <a:ext cx="12192000" cy="57171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24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88300-C9B9-76EE-79EB-B8D544E6D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EDB1F4-A810-2B56-C4AA-C02BB307C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7384"/>
            <a:ext cx="9144000" cy="2411004"/>
          </a:xfrm>
        </p:spPr>
        <p:txBody>
          <a:bodyPr>
            <a:noAutofit/>
          </a:bodyPr>
          <a:lstStyle/>
          <a:p>
            <a:r>
              <a:rPr lang="en-US" sz="1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03DD9BE-6F0B-BEF4-67C7-376750CA8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7851" y="3258089"/>
            <a:ext cx="5967369" cy="743458"/>
          </a:xfrm>
        </p:spPr>
        <p:txBody>
          <a:bodyPr>
            <a:normAutofit/>
          </a:bodyPr>
          <a:lstStyle/>
          <a:p>
            <a:pPr algn="l"/>
            <a:r>
              <a:rPr lang="en-GB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your attention!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21C15D-EC46-D9E5-7B35-D2BCE8CFFA0A}"/>
              </a:ext>
            </a:extLst>
          </p:cNvPr>
          <p:cNvCxnSpPr/>
          <p:nvPr/>
        </p:nvCxnSpPr>
        <p:spPr>
          <a:xfrm>
            <a:off x="1803633" y="2801925"/>
            <a:ext cx="8892330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C070E80-104B-BCEC-6D16-54543841E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7831" y="3883428"/>
            <a:ext cx="3197184" cy="22837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247DE5-C7B3-EAE7-246D-E2B5A43B5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51303"/>
            <a:ext cx="2466363" cy="328848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D1672C-1C44-DED2-4108-D015C52C9D54}"/>
              </a:ext>
            </a:extLst>
          </p:cNvPr>
          <p:cNvSpPr/>
          <p:nvPr/>
        </p:nvSpPr>
        <p:spPr>
          <a:xfrm>
            <a:off x="0" y="6294675"/>
            <a:ext cx="12192000" cy="57171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79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435</Words>
  <Application>Microsoft Office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Aptos Narrow</vt:lpstr>
      <vt:lpstr>Arial</vt:lpstr>
      <vt:lpstr>Calibri</vt:lpstr>
      <vt:lpstr>Office Theme</vt:lpstr>
      <vt:lpstr> Ice Cream Sales Analysis                  Using R</vt:lpstr>
      <vt:lpstr>Introduction</vt:lpstr>
      <vt:lpstr>Dataset Overview</vt:lpstr>
      <vt:lpstr>Tools and Methodology</vt:lpstr>
      <vt:lpstr>Data Preparation</vt:lpstr>
      <vt:lpstr>Variable and Vector Creation</vt:lpstr>
      <vt:lpstr>List and Data Frame</vt:lpstr>
      <vt:lpstr>Control Structures</vt:lpstr>
      <vt:lpstr>Data Visualization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Nada AlNajar</dc:creator>
  <cp:lastModifiedBy>Nada AlNajar</cp:lastModifiedBy>
  <cp:revision>1</cp:revision>
  <dcterms:created xsi:type="dcterms:W3CDTF">2025-01-02T17:28:45Z</dcterms:created>
  <dcterms:modified xsi:type="dcterms:W3CDTF">2025-01-03T22:05:04Z</dcterms:modified>
</cp:coreProperties>
</file>